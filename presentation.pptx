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1" r:id="rId6"/>
    <p:sldId id="258" r:id="rId7"/>
    <p:sldId id="259" r:id="rId8"/>
    <p:sldId id="260" r:id="rId9"/>
    <p:sldId id="272" r:id="rId10"/>
    <p:sldId id="261" r:id="rId11"/>
    <p:sldId id="262" r:id="rId12"/>
    <p:sldId id="273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7945"/>
  <p:notesSz cx="5147945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api.worldbank.org/v2/country/PAK/indicator/SH.STA.AIRP.P5#:~:text=,standardized%20%28per" TargetMode="External"/><Relationship Id="rId2" Type="http://schemas.openxmlformats.org/officeDocument/2006/relationships/hyperlink" Target="https://opendata.com.pk/dataset/air-quality-index-may-2019-april-2020/resource/decb72cb-1d47-4c2b-8414-33fb01f763d5#:~:text=,consulate" TargetMode="Externa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globaldietarydatabase.org" TargetMode="External"/><Relationship Id="rId3" Type="http://schemas.openxmlformats.org/officeDocument/2006/relationships/hyperlink" Target="https://data.humdata.org/" TargetMode="Externa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api.worldbank.org/v2/country/PAK/indicator/SH.STA.AIRP.P5#:~:text=,standardized%20%28per" TargetMode="External"/><Relationship Id="rId3" Type="http://schemas.openxmlformats.org/officeDocument/2006/relationships/hyperlink" Target="https://opendata.com.pk/dataset/air-quality-index-may-2019-april-2020/resource/decb72cb-1d47-4c2b-8414-33fb01f763d5#:~:text=,consulate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opendata.com.pk/dataset/air-quality-index-may-2019-april-2020/resource/decb72cb-1d47-4c2b-8414-33fb01f763d5#:~:text=,consulate" TargetMode="Externa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opendata.com.pk/dataset/air-quality-index-may-2019-april-2020/resource/decb72cb-1d47-4c2b-8414-33fb01f763d5#:~:text=,consulate" TargetMode="Externa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opendata.com.pk/dataset/air-quality-index-may-2019-april-2020/resource/decb72cb-1d47-4c2b-8414-33fb01f763d5#:~:text=,consulate" TargetMode="Externa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pi.worldbank.org/v2/country/PAK/indicator/SH.STA.AIRP.P5#:~:text=,standardized%20%28per" TargetMode="External"/><Relationship Id="rId1" Type="http://schemas.openxmlformats.org/officeDocument/2006/relationships/hyperlink" Target="https://opendata.com.pk/dataset/air-quality-index-may-2019-april-2020/resource/decb72cb-1d47-4c2b-8414-33fb01f763d5#:~:text=,consulat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0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32004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7665" y="501650"/>
            <a:ext cx="4292600" cy="40652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of PM2.5 Pollution &amp; Respiratory Mortality
</a:t>
            </a:r>
            <a:endParaRPr lang="en-US" sz="2600" b="1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endParaRPr lang="en-US" sz="2600" b="1" i="1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endParaRPr lang="en-US" sz="2600" b="1" i="1" dirty="0">
              <a:solidFill>
                <a:srgbClr val="FFFFFF"/>
              </a:solidFill>
            </a:endParaRPr>
          </a:p>
          <a:p>
            <a:pPr marL="0" indent="0" algn="l">
              <a:buNone/>
            </a:pPr>
            <a:r>
              <a:rPr lang="en-US" sz="1200" i="1" dirty="0">
                <a:solidFill>
                  <a:srgbClr val="F5F5F5"/>
                </a:solidFill>
              </a:rPr>
              <a:t>
</a:t>
            </a:r>
            <a:endParaRPr lang="en-US" sz="1200" i="1" dirty="0">
              <a:solidFill>
                <a:srgbClr val="F5F5F5"/>
              </a:solidFill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5F5F5"/>
              </a:solidFill>
            </a:endParaRPr>
          </a:p>
          <a:p>
            <a:pPr marL="0" indent="0" algn="l">
              <a:buNone/>
            </a:pPr>
            <a:endParaRPr lang="en-US" sz="1200" i="1" dirty="0">
              <a:solidFill>
                <a:srgbClr val="F5F5F5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F5F5F5"/>
                </a:solidFill>
              </a:rPr>
              <a:t>Numan Siddique</a:t>
            </a:r>
            <a:endParaRPr lang="en-US" sz="1100" dirty="0">
              <a:solidFill>
                <a:srgbClr val="F5F5F5"/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F5F5F5"/>
                </a:solidFill>
              </a:rPr>
              <a:t>20101767</a:t>
            </a:r>
            <a:endParaRPr lang="en-US" sz="1000" dirty="0">
              <a:solidFill>
                <a:srgbClr val="F5F5F5"/>
              </a:solidFill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F5F5F5"/>
                </a:solidFill>
              </a:rPr>
              <a:t>Siddique-N2@ulster.ac.uk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303520" y="109728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2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3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6720"/>
            <a:ext cx="5847715" cy="314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0C4E"/>
                </a:solidFill>
              </a:rPr>
              <a:t>Objective:</a:t>
            </a:r>
            <a:endParaRPr lang="en-US" sz="1600" b="1" dirty="0">
              <a:solidFill>
                <a:srgbClr val="4B0C4E"/>
              </a:solidFill>
            </a:endParaRPr>
          </a:p>
          <a:p>
            <a:pPr marL="0" indent="457200">
              <a:buNone/>
            </a:pPr>
            <a:r>
              <a:rPr lang="en-US" sz="1200" dirty="0">
                <a:solidFill>
                  <a:srgbClr val="333333"/>
                </a:solidFill>
              </a:rPr>
              <a:t>Investigate the relationship between PM2.5 air pollution and respiratory mortality using cleaned datasets.
</a:t>
            </a:r>
            <a:r>
              <a:rPr lang="en-US" sz="1600" b="1" dirty="0">
                <a:solidFill>
                  <a:srgbClr val="4B0C4E"/>
                </a:solidFill>
              </a:rPr>
              <a:t>Significance:</a:t>
            </a:r>
            <a:endParaRPr lang="en-US" sz="1600" b="1" dirty="0">
              <a:solidFill>
                <a:srgbClr val="4B0C4E"/>
              </a:solidFill>
            </a:endParaRPr>
          </a:p>
          <a:p>
            <a:pPr marL="0" indent="457200">
              <a:buNone/>
            </a:pPr>
            <a:r>
              <a:rPr lang="en-US" sz="1200" dirty="0">
                <a:solidFill>
                  <a:srgbClr val="333333"/>
                </a:solidFill>
              </a:rPr>
              <a:t>Understanding whether high particulate pollution levels correspond to increased deaths informs public health policy and environmental regulations.
</a:t>
            </a:r>
            <a:r>
              <a:rPr lang="en-US" sz="1600" b="1" dirty="0">
                <a:solidFill>
                  <a:srgbClr val="4B0C4E"/>
                </a:solidFill>
              </a:rPr>
              <a:t>Scope:
        </a:t>
            </a:r>
            <a:r>
              <a:rPr lang="en-US" sz="1200" dirty="0">
                <a:solidFill>
                  <a:srgbClr val="333333"/>
                </a:solidFill>
              </a:rPr>
              <a:t>Year 2019 U.S. county air‑quality data (999 records) and 2015–2021                           aggregated mortality statistics from the World Health Organization.
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Data Exploration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1586230"/>
            <a:ext cx="4389120" cy="3061335"/>
          </a:xfrm>
          <a:prstGeom prst="rect">
            <a:avLst/>
          </a:prstGeom>
          <a:noFill/>
        </p:spPr>
        <p:txBody>
          <a:bodyPr wrap="square" rtlCol="0" anchor="ctr"/>
          <a:p>
            <a:pPr indent="0">
              <a:buFont typeface="Arial" panose="020B0704020202020204" pitchFamily="34" charset="0"/>
              <a:buNone/>
            </a:pP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120640" y="2407920"/>
            <a:ext cx="3108960" cy="240982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  <p:sp>
        <p:nvSpPr>
          <p:cNvPr id="10" name="Text Box 9"/>
          <p:cNvSpPr txBox="1"/>
          <p:nvPr/>
        </p:nvSpPr>
        <p:spPr>
          <a:xfrm>
            <a:off x="456565" y="1125220"/>
            <a:ext cx="33185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sz="1600" i="1" dirty="0">
                <a:solidFill>
                  <a:srgbClr val="BFA03B"/>
                </a:solidFill>
                <a:sym typeface="+mn-ea"/>
              </a:rPr>
              <a:t>List of data sources</a:t>
            </a:r>
            <a:endParaRPr 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48640" y="1553845"/>
            <a:ext cx="5830570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1600" b="1" dirty="0">
                <a:solidFill>
                  <a:srgbClr val="4B0C4E"/>
                </a:solidFill>
                <a:sym typeface="+mn-ea"/>
              </a:rPr>
              <a:t>Kaggle </a:t>
            </a:r>
            <a:r>
              <a:rPr lang="en-US" sz="1600"/>
              <a:t>: </a:t>
            </a:r>
            <a:r>
              <a:rPr lang="en-US" sz="1400"/>
              <a:t>Provides datasets belonging to every aspect of life</a:t>
            </a:r>
            <a:endParaRPr 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1600" b="1" dirty="0">
                <a:solidFill>
                  <a:srgbClr val="4B0C4E"/>
                </a:solidFill>
                <a:sym typeface="+mn-ea"/>
              </a:rPr>
              <a:t>data.gov</a:t>
            </a:r>
            <a:r>
              <a:rPr lang="en-US" sz="1600"/>
              <a:t>: </a:t>
            </a:r>
            <a:r>
              <a:rPr lang="en-US" sz="1400"/>
              <a:t>US Govt datasets</a:t>
            </a:r>
            <a:endParaRPr 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1600" b="1" dirty="0">
                <a:solidFill>
                  <a:srgbClr val="4B0C4E"/>
                </a:solidFill>
                <a:sym typeface="+mn-ea"/>
              </a:rPr>
              <a:t>data.gov.in</a:t>
            </a:r>
            <a:r>
              <a:rPr lang="en-US" sz="1600"/>
              <a:t>: </a:t>
            </a:r>
            <a:r>
              <a:rPr lang="en-US" sz="1400"/>
              <a:t>Regional data sets</a:t>
            </a:r>
            <a:endParaRPr 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1600" b="1" dirty="0">
                <a:solidFill>
                  <a:srgbClr val="4B0C4E"/>
                </a:solidFill>
                <a:sym typeface="+mn-ea"/>
              </a:rPr>
              <a:t>CDC Data </a:t>
            </a:r>
            <a:r>
              <a:rPr lang="en-US" sz="1600"/>
              <a:t>: </a:t>
            </a:r>
            <a:r>
              <a:rPr lang="en-US" sz="1400"/>
              <a:t>US public health dataset</a:t>
            </a:r>
            <a:endParaRPr 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1600" b="1" dirty="0">
                <a:solidFill>
                  <a:srgbClr val="4B0C4E"/>
                </a:solidFill>
                <a:sym typeface="+mn-ea"/>
              </a:rPr>
              <a:t>HDX </a:t>
            </a:r>
            <a:r>
              <a:rPr lang="en-US" sz="1600"/>
              <a:t>: (</a:t>
            </a:r>
            <a:r>
              <a:rPr lang="en-US" sz="1600">
                <a:hlinkClick r:id="rId3" tooltip="" action="ppaction://hlinkfile"/>
              </a:rPr>
              <a:t>https://data.humdata.org/</a:t>
            </a:r>
            <a:r>
              <a:rPr lang="en-US" sz="1600"/>
              <a:t>)</a:t>
            </a:r>
            <a:endParaRPr lang="en-US" sz="1600"/>
          </a:p>
          <a:p>
            <a:pPr lvl="1" indent="457200">
              <a:buFont typeface="Arial" panose="020B0704020202020204" pitchFamily="34" charset="0"/>
              <a:buNone/>
            </a:pPr>
            <a:r>
              <a:rPr lang="en-US" sz="1400"/>
              <a:t>Access and share humanitarian data access crises and organization</a:t>
            </a:r>
            <a:endParaRPr 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1600" b="1" dirty="0">
                <a:solidFill>
                  <a:srgbClr val="4B0C4E"/>
                </a:solidFill>
                <a:sym typeface="+mn-ea"/>
              </a:rPr>
              <a:t>GDD </a:t>
            </a:r>
            <a:r>
              <a:rPr lang="en-US" sz="1600"/>
              <a:t>: </a:t>
            </a:r>
            <a:r>
              <a:rPr lang="en-US" sz="1600">
                <a:hlinkClick r:id="rId4" tooltip="" action="ppaction://hlinkfile"/>
              </a:rPr>
              <a:t>https://globaldietarydatabase.org</a:t>
            </a:r>
            <a:endParaRPr lang="en-US" sz="1600"/>
          </a:p>
          <a:p>
            <a:pPr marL="457200" lvl="1" indent="457200">
              <a:buFont typeface="Arial" panose="020B0704020202020204" pitchFamily="34" charset="0"/>
              <a:buNone/>
            </a:pPr>
            <a:r>
              <a:rPr lang="en-US" sz="1400"/>
              <a:t>The Global Dietary Database (GDD) is an ongoing effort to produce the most reliable estimates of dietary intake worldwide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Datasets &amp; Justification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361565"/>
            <a:ext cx="438912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Air Quality Dataset (2019)
</a:t>
            </a:r>
            <a:r>
              <a:rPr lang="en-US" sz="1000" i="1" dirty="0">
                <a:solidFill>
                  <a:srgbClr val="333333"/>
                </a:solidFill>
              </a:rPr>
              <a:t>999 U.S. county records with variables:
    </a:t>
            </a:r>
            <a:r>
              <a:rPr lang="en-US" sz="1000" dirty="0">
                <a:solidFill>
                  <a:srgbClr val="333333"/>
                </a:solidFill>
              </a:rPr>
              <a:t>• Days_PM2.5
    • Days_PM10
    • Resp_Death_Rate
</a:t>
            </a:r>
            <a:r>
              <a:rPr lang="en-US" sz="1200" b="1" dirty="0">
                <a:solidFill>
                  <a:srgbClr val="4B0C4E"/>
                </a:solidFill>
              </a:rPr>
              <a:t>Why this dataset?
</a:t>
            </a:r>
            <a:r>
              <a:rPr lang="en-US" sz="1000" dirty="0">
                <a:solidFill>
                  <a:srgbClr val="333333"/>
                </a:solidFill>
              </a:rPr>
              <a:t>High‑quality PM measurements and mortality rates allow correlation analysis.
</a:t>
            </a:r>
            <a:r>
              <a:rPr lang="en-US" sz="1200" b="1" dirty="0">
                <a:solidFill>
                  <a:srgbClr val="4B0C4E"/>
                </a:solidFill>
              </a:rPr>
              <a:t>Cleaning steps:
    </a:t>
            </a:r>
            <a:r>
              <a:rPr lang="en-US" sz="1000" dirty="0">
                <a:solidFill>
                  <a:srgbClr val="333333"/>
                </a:solidFill>
              </a:rPr>
              <a:t>• Converted data types
     • Removed missing and outlier rows
     • Filtered to &lt; 1k records
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10385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0640" y="2407920"/>
            <a:ext cx="3108960" cy="24098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Global Mortality Dataset (2015–2021)
</a:t>
            </a:r>
            <a:r>
              <a:rPr lang="en-US" sz="1000" i="1" dirty="0">
                <a:solidFill>
                  <a:srgbClr val="333333"/>
                </a:solidFill>
              </a:rPr>
              <a:t>Annual deaths attributable to ambient air pollution.
</a:t>
            </a:r>
            <a:r>
              <a:rPr lang="en-US" sz="1000" i="1" dirty="0">
                <a:solidFill>
                  <a:srgbClr val="333333"/>
                </a:solidFill>
              </a:rPr>
              <a:t>Variables:
     </a:t>
            </a:r>
            <a:r>
              <a:rPr lang="en-US" sz="1000" dirty="0">
                <a:solidFill>
                  <a:srgbClr val="333333"/>
                </a:solidFill>
              </a:rPr>
              <a:t>• Year
     • Value (deaths)
     • bounds
</a:t>
            </a:r>
            <a:r>
              <a:rPr lang="en-US" sz="1200" b="1" dirty="0">
                <a:solidFill>
                  <a:srgbClr val="4B0C4E"/>
                </a:solidFill>
              </a:rPr>
              <a:t>Why this dataset?
</a:t>
            </a:r>
            <a:r>
              <a:rPr lang="en-US" sz="1000" dirty="0">
                <a:solidFill>
                  <a:srgbClr val="333333"/>
                </a:solidFill>
              </a:rPr>
              <a:t>Provides context on global mortality trends due to air pollution.
</a:t>
            </a:r>
            <a:r>
              <a:rPr lang="en-US" sz="1200" b="1" dirty="0">
                <a:solidFill>
                  <a:srgbClr val="4B0C4E"/>
                </a:solidFill>
              </a:rPr>
              <a:t>Cleaning steps:
    </a:t>
            </a:r>
            <a:r>
              <a:rPr lang="en-US" sz="1000" dirty="0">
                <a:solidFill>
                  <a:srgbClr val="333333"/>
                </a:solidFill>
              </a:rPr>
              <a:t>• Selected both sexes and all causes
     • Converted values to numeric
     • Restricted to 2015–2021
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3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4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Technical Solution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A03B"/>
                </a:solidFill>
              </a:rPr>
              <a:t>Architecture &amp; Layers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856232"/>
            <a:ext cx="17373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856232"/>
            <a:ext cx="1554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1856232"/>
            <a:ext cx="15544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862072"/>
            <a:ext cx="210312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862072"/>
            <a:ext cx="21945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867912"/>
            <a:ext cx="246888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  <p:pic>
        <p:nvPicPr>
          <p:cNvPr id="28" name="Picture 27" descr="ChatGPT Image Dec 10, 2025, 12_09_03 PM"/>
          <p:cNvPicPr>
            <a:picLocks noChangeAspect="1"/>
          </p:cNvPicPr>
          <p:nvPr/>
        </p:nvPicPr>
        <p:blipFill>
          <a:blip r:embed="rId3"/>
          <a:srcRect l="603" t="15357" r="-603" b="13082"/>
          <a:stretch>
            <a:fillRect/>
          </a:stretch>
        </p:blipFill>
        <p:spPr>
          <a:xfrm>
            <a:off x="1117600" y="2058035"/>
            <a:ext cx="3625850" cy="2743200"/>
          </a:xfrm>
          <a:prstGeom prst="rect">
            <a:avLst/>
          </a:prstGeom>
        </p:spPr>
      </p:pic>
      <p:sp>
        <p:nvSpPr>
          <p:cNvPr id="32" name="Text Box 31"/>
          <p:cNvSpPr txBox="1"/>
          <p:nvPr/>
        </p:nvSpPr>
        <p:spPr>
          <a:xfrm>
            <a:off x="541655" y="1557655"/>
            <a:ext cx="50857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Tool used (e.g., Hadoop, Hive, Spark, Zeppline)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Data Ingestion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Tools &amp; Services Used:
</a:t>
            </a:r>
            <a:r>
              <a:rPr lang="en-US" sz="1100" b="1" dirty="0">
                <a:solidFill>
                  <a:srgbClr val="4B0C4E"/>
                </a:solidFill>
              </a:rPr>
              <a:t>• Storage: </a:t>
            </a:r>
            <a:r>
              <a:rPr lang="en-US" sz="1100" dirty="0">
                <a:solidFill>
                  <a:srgbClr val="333333"/>
                </a:solidFill>
              </a:rPr>
              <a:t>Hadoop Distributed File System (HDFS)
</a:t>
            </a:r>
            <a:r>
              <a:rPr lang="en-US" sz="1100" b="1" dirty="0">
                <a:solidFill>
                  <a:srgbClr val="4B0C4E"/>
                </a:solidFill>
              </a:rPr>
              <a:t>• Ingestion Method: </a:t>
            </a:r>
            <a:r>
              <a:rPr lang="en-US" sz="1100" dirty="0">
                <a:solidFill>
                  <a:srgbClr val="333333"/>
                </a:solidFill>
              </a:rPr>
              <a:t>Direct upload of CSV files via Ambari File View or Hadoop CLI
</a:t>
            </a:r>
            <a:r>
              <a:rPr lang="en-US" sz="1100" b="1" dirty="0">
                <a:solidFill>
                  <a:srgbClr val="4B0C4E"/>
                </a:solidFill>
              </a:rPr>
              <a:t>• Platform: </a:t>
            </a:r>
            <a:r>
              <a:rPr lang="en-US" sz="1100" dirty="0">
                <a:solidFill>
                  <a:srgbClr val="333333"/>
                </a:solidFill>
              </a:rPr>
              <a:t>Zeppelin/Spark (integrated with Ambari) for initial preview and loading
</a:t>
            </a:r>
            <a:r>
              <a:rPr lang="en-US" sz="1400" b="1" dirty="0">
                <a:solidFill>
                  <a:srgbClr val="4B0C4E"/>
                </a:solidFill>
              </a:rPr>
              <a:t>File Format Handling:
</a:t>
            </a:r>
            <a:r>
              <a:rPr lang="en-US" sz="1100" dirty="0">
                <a:solidFill>
                  <a:srgbClr val="333333"/>
                </a:solidFill>
              </a:rPr>
              <a:t>• CSV files: human‑readable, easily parsed by Hive/Spark, with column headers
</a:t>
            </a:r>
            <a:r>
              <a:rPr lang="en-US" sz="1100" dirty="0">
                <a:solidFill>
                  <a:srgbClr val="333333"/>
                </a:solidFill>
              </a:rPr>
              <a:t>• Pre‑processing: remove missing values, standardise dates, infer data types via Spark
</a:t>
            </a:r>
            <a:r>
              <a:rPr lang="en-US" sz="1400" b="1" dirty="0">
                <a:solidFill>
                  <a:srgbClr val="4B0C4E"/>
                </a:solidFill>
              </a:rPr>
              <a:t>Upload Path:</a:t>
            </a:r>
            <a:r>
              <a:rPr lang="en-US" sz="1100" dirty="0">
                <a:solidFill>
                  <a:srgbClr val="333333"/>
                </a:solidFill>
              </a:rPr>
              <a:t>  /user/cw2/datasets/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Data Ingestion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l">
              <a:buNone/>
            </a:pPr>
            <a:r>
              <a:rPr lang="en-US" sz="1400" b="1" dirty="0">
                <a:solidFill>
                  <a:srgbClr val="4B0C4E"/>
                </a:solidFill>
              </a:rPr>
              <a:t>Tools &amp; Services Used:
       </a:t>
            </a:r>
            <a:r>
              <a:rPr lang="en-US" sz="1100" b="1" dirty="0">
                <a:solidFill>
                  <a:srgbClr val="4B0C4E"/>
                </a:solidFill>
              </a:rPr>
              <a:t>• Ambari-managed Hadoop Cluster</a:t>
            </a:r>
            <a:r>
              <a:rPr lang="en-US" sz="1100" dirty="0">
                <a:solidFill>
                  <a:srgbClr val="333333"/>
                </a:solidFill>
              </a:rPr>
              <a:t>
         </a:t>
            </a:r>
            <a:r>
              <a:rPr lang="en-US" sz="1100" b="1" dirty="0">
                <a:solidFill>
                  <a:srgbClr val="4B0C4E"/>
                </a:solidFill>
              </a:rPr>
              <a:t>• </a:t>
            </a:r>
            <a:r>
              <a:rPr lang="en-US" sz="1100" dirty="0">
                <a:solidFill>
                  <a:srgbClr val="333333"/>
                </a:solidFill>
              </a:rPr>
              <a:t>Ingestion through HDFS file upload of CSV files via Ambari File View or Hadoop CLI
         </a:t>
            </a:r>
            <a:r>
              <a:rPr lang="en-US" sz="1100" b="1" dirty="0">
                <a:solidFill>
                  <a:srgbClr val="4B0C4E"/>
                </a:solidFill>
              </a:rPr>
              <a:t>• CSV Format </a:t>
            </a:r>
            <a:r>
              <a:rPr lang="en-US" sz="1100" dirty="0">
                <a:solidFill>
                  <a:srgbClr val="333333"/>
                </a:solidFill>
              </a:rPr>
              <a:t>is directly handled by the Hadoop/Hive ecosystem.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4B0C4E"/>
                </a:solidFill>
                <a:sym typeface="+mn-ea"/>
              </a:rPr>
              <a:t>         • </a:t>
            </a:r>
            <a:r>
              <a:rPr lang="en-US" sz="1100" dirty="0">
                <a:solidFill>
                  <a:srgbClr val="333333"/>
                </a:solidFill>
                <a:sym typeface="+mn-ea"/>
              </a:rPr>
              <a:t>Spark accessed via </a:t>
            </a:r>
            <a:r>
              <a:rPr lang="en-US" sz="1100" b="1" dirty="0">
                <a:solidFill>
                  <a:srgbClr val="4B0C4E"/>
                </a:solidFill>
                <a:sym typeface="+mn-ea"/>
              </a:rPr>
              <a:t>Zeppeline </a:t>
            </a:r>
            <a:r>
              <a:rPr lang="en-US" sz="1100" dirty="0">
                <a:solidFill>
                  <a:srgbClr val="333333"/>
                </a:solidFill>
                <a:sym typeface="+mn-ea"/>
              </a:rPr>
              <a:t>(integrated with ambari).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 
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endParaRPr lang="en-US" sz="1100" b="1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r>
              <a:rPr lang="en-US" sz="1400" b="1" dirty="0">
                <a:solidFill>
                  <a:srgbClr val="4B0C4E"/>
                </a:solidFill>
              </a:rPr>
              <a:t>Validation:
       </a:t>
            </a:r>
            <a:r>
              <a:rPr lang="en-US" sz="1100" dirty="0">
                <a:solidFill>
                  <a:srgbClr val="333333"/>
                </a:solidFill>
              </a:rPr>
              <a:t>• Done using Spark (Via Zeppeline)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sym typeface="+mn-ea"/>
              </a:rPr>
              <a:t>         • Data type interface and filtering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Storage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32816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Storage Type:
    </a:t>
            </a:r>
            <a:r>
              <a:rPr lang="en-US" sz="1100" dirty="0">
                <a:solidFill>
                  <a:srgbClr val="333333"/>
                </a:solidFill>
              </a:rPr>
              <a:t>• HDFS (Ambari‑managed)
</a:t>
            </a:r>
            <a:r>
              <a:rPr lang="en-US" sz="1400" b="1" dirty="0">
                <a:solidFill>
                  <a:srgbClr val="4B0C4E"/>
                </a:solidFill>
              </a:rPr>
              <a:t>
Rationale:</a:t>
            </a:r>
            <a:endParaRPr lang="en-US" sz="1400" b="1" dirty="0">
              <a:solidFill>
                <a:srgbClr val="4B0C4E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    </a:t>
            </a:r>
            <a:r>
              <a:rPr lang="en-US" sz="1100" dirty="0">
                <a:solidFill>
                  <a:srgbClr val="333333"/>
                </a:solidFill>
              </a:rPr>
              <a:t>• Ambari GUI simplifies monitoring and configuration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     • Easily scale nodes, replicate data and view metrics
</a:t>
            </a:r>
            <a:r>
              <a:rPr lang="en-US" sz="1400" b="1" dirty="0">
                <a:solidFill>
                  <a:srgbClr val="4B0C4E"/>
                </a:solidFill>
              </a:rPr>
              <a:t>Organisation:
    </a:t>
            </a:r>
            <a:r>
              <a:rPr lang="en-US" sz="1100" dirty="0">
                <a:solidFill>
                  <a:srgbClr val="333333"/>
                </a:solidFill>
              </a:rPr>
              <a:t>• HDFS directorie
     </a:t>
            </a:r>
            <a:r>
              <a:rPr lang="en-US" sz="1100" dirty="0">
                <a:solidFill>
                  <a:srgbClr val="333333"/>
                </a:solidFill>
              </a:rPr>
              <a:t>• Processed: /user/cw2/ (cleaned &amp; partitioned)
     </a:t>
            </a:r>
            <a:r>
              <a:rPr lang="en-US" sz="1100" dirty="0">
                <a:solidFill>
                  <a:srgbClr val="333333"/>
                </a:solidFill>
              </a:rPr>
              <a:t>• Example: /user/cw2/AQI_Respiratory_2019_clean.csv
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endParaRPr lang="en-US" sz="700" dirty="0"/>
          </a:p>
        </p:txBody>
      </p:sp>
      <p:pic>
        <p:nvPicPr>
          <p:cNvPr id="7" name="Picture 6" descr="Screenshot 2025-12-10 at 10.52.31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680" y="2404745"/>
            <a:ext cx="3170555" cy="2459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Processing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Frameworks:
</a:t>
            </a:r>
            <a:r>
              <a:rPr lang="en-US" sz="1100" dirty="0">
                <a:solidFill>
                  <a:srgbClr val="333333"/>
                </a:solidFill>
              </a:rPr>
              <a:t>• Hive (Ambari‑controlled service)
</a:t>
            </a:r>
            <a:r>
              <a:rPr lang="en-US" sz="1100" dirty="0">
                <a:solidFill>
                  <a:srgbClr val="333333"/>
                </a:solidFill>
              </a:rPr>
              <a:t>• Spark via Zeppelin (integrated with Ambari)
</a:t>
            </a:r>
            <a:r>
              <a:rPr lang="en-US" sz="1400" b="1" dirty="0">
                <a:solidFill>
                  <a:srgbClr val="4B0C4E"/>
                </a:solidFill>
              </a:rPr>
              <a:t>Transformations:
</a:t>
            </a:r>
            <a:r>
              <a:rPr lang="en-US" sz="1100" dirty="0">
                <a:solidFill>
                  <a:srgbClr val="333333"/>
                </a:solidFill>
              </a:rPr>
              <a:t>• Data type inference and filtering via Spark
</a:t>
            </a:r>
            <a:r>
              <a:rPr lang="en-US" sz="1100" dirty="0">
                <a:solidFill>
                  <a:srgbClr val="333333"/>
                </a:solidFill>
              </a:rPr>
              <a:t>• Hive tables created from cleaned CSVs using Ambari Hive View
</a:t>
            </a:r>
            <a:r>
              <a:rPr lang="en-US" sz="1400" b="1" dirty="0">
                <a:solidFill>
                  <a:srgbClr val="4B0C4E"/>
                </a:solidFill>
              </a:rPr>
              <a:t>Example Query:
</a:t>
            </a: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CREATE TABLE aqi_respiratory_2019_clean (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location_name       STRING,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year                INT,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fips                INT,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resp_death_rate     FLOAT,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days_pm25           INT,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  days_pm10           INT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)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ROW FORMAT DELIMITED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FIELDS TERMINATED BY ','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STORED AS TEXTFILE</a:t>
            </a:r>
            <a:endParaRPr lang="en-US" sz="1000" dirty="0">
              <a:solidFill>
                <a:srgbClr val="333333"/>
              </a:solidFill>
              <a:latin typeface="Courier New" panose="02070609020205020404" pitchFamily="34" charset="0"/>
              <a:ea typeface="Courier New" panose="02070609020205020404" pitchFamily="34" charset="-122"/>
              <a:cs typeface="Courier New" panose="02070609020205020404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anose="02070609020205020404" pitchFamily="34" charset="0"/>
                <a:ea typeface="Courier New" panose="02070609020205020404" pitchFamily="34" charset="-122"/>
                <a:cs typeface="Courier New" panose="02070609020205020404" pitchFamily="34" charset="-120"/>
              </a:rPr>
              <a:t>TBLPROPERTIES ("skip.header.line.count"="1");
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Processing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75715"/>
            <a:ext cx="8229600" cy="3479165"/>
          </a:xfrm>
          <a:prstGeom prst="rect">
            <a:avLst/>
          </a:prstGeom>
          <a:noFill/>
        </p:spPr>
        <p:txBody>
          <a:bodyPr wrap="square" rtlCol="0" anchor="ctr"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• Filter data from aqi_respiratory_2019_clean on the basis of different params to get 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  death_rate belongs to different locations.</a:t>
            </a: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Visualization Layer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7830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0C4E"/>
                </a:solidFill>
              </a:rPr>
              <a:t>Correlation Analysis
</a:t>
            </a:r>
            <a:r>
              <a:rPr lang="en-US" sz="1000" dirty="0">
                <a:solidFill>
                  <a:srgbClr val="333333"/>
                </a:solidFill>
              </a:rPr>
              <a:t>Scatter plot of PM2.5 exposure vs death rate
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0C4E"/>
                </a:solidFill>
              </a:rPr>
              <a:t>Distribution Charts
</a:t>
            </a:r>
            <a:r>
              <a:rPr lang="en-US" sz="1000" dirty="0">
                <a:solidFill>
                  <a:srgbClr val="333333"/>
                </a:solidFill>
              </a:rPr>
              <a:t>Bar charts of top counties by PM2.5 and death rate
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246120"/>
            <a:ext cx="4114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0C4E"/>
                </a:solidFill>
              </a:rPr>
              <a:t>Temporal Trends
</a:t>
            </a:r>
            <a:r>
              <a:rPr lang="en-US" sz="1000" dirty="0">
                <a:solidFill>
                  <a:srgbClr val="333333"/>
                </a:solidFill>
              </a:rPr>
              <a:t>Line chart showing global ambient pollution deaths over time
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333333"/>
                </a:solidFill>
              </a:rPr>
              <a:t>Zeppelin notebooks provide an interactive platform to execute Spark SQL queries and instantly visualise results using built‑in chart options.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3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Summary &amp; Statistics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8F8F8"/>
          </a:solidFill>
          <a:ln w="12700">
            <a:solidFill>
              <a:srgbClr val="4B0C4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737360"/>
            <a:ext cx="3474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0C4E"/>
                </a:solidFill>
              </a:rPr>
              <a:t>Mean Days with PM2.5
</a:t>
            </a:r>
            <a:r>
              <a:rPr lang="en-US" sz="1800" b="1" dirty="0">
                <a:solidFill>
                  <a:srgbClr val="333333"/>
                </a:solidFill>
              </a:rPr>
              <a:t>145.5
</a:t>
            </a:r>
            <a:r>
              <a:rPr lang="en-US" sz="1200" b="1" dirty="0">
                <a:solidFill>
                  <a:srgbClr val="4B0C4E"/>
                </a:solidFill>
              </a:rPr>
              <a:t>Mean Respiratory Death Rate
</a:t>
            </a:r>
            <a:r>
              <a:rPr lang="en-US" sz="1800" b="1" dirty="0">
                <a:solidFill>
                  <a:srgbClr val="333333"/>
                </a:solidFill>
              </a:rPr>
              <a:t>0.00022
</a:t>
            </a:r>
            <a:r>
              <a:rPr lang="en-US" sz="1200" b="1" dirty="0">
                <a:solidFill>
                  <a:srgbClr val="4B0C4E"/>
                </a:solidFill>
              </a:rPr>
              <a:t>Correlation (PM2.5 vs Rate)
</a:t>
            </a:r>
            <a:r>
              <a:rPr lang="en-US" sz="1800" b="1" dirty="0">
                <a:solidFill>
                  <a:srgbClr val="333333"/>
                </a:solidFill>
              </a:rPr>
              <a:t>-0.126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8F8F8"/>
          </a:solidFill>
          <a:ln w="12700">
            <a:solidFill>
              <a:srgbClr val="4B0C4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63440" y="17373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0C4E"/>
                </a:solidFill>
              </a:rPr>
              <a:t>Top Counties by PM2.5 Days
</a:t>
            </a:r>
            <a:r>
              <a:rPr lang="en-US" sz="1000" dirty="0">
                <a:solidFill>
                  <a:srgbClr val="333333"/>
                </a:solidFill>
              </a:rPr>
              <a:t>• Lewis County (WA) – 365
</a:t>
            </a:r>
            <a:r>
              <a:rPr lang="en-US" sz="1000" dirty="0">
                <a:solidFill>
                  <a:srgbClr val="333333"/>
                </a:solidFill>
              </a:rPr>
              <a:t>• Grant County (WI) – 365
</a:t>
            </a:r>
            <a:r>
              <a:rPr lang="en-US" sz="1000" dirty="0">
                <a:solidFill>
                  <a:srgbClr val="333333"/>
                </a:solidFill>
              </a:rPr>
              <a:t>• Klickitat County (WA) – 365
</a:t>
            </a:r>
            <a:r>
              <a:rPr lang="en-US" sz="1000" dirty="0">
                <a:solidFill>
                  <a:srgbClr val="333333"/>
                </a:solidFill>
              </a:rPr>
              <a:t>• Kittitas County (WA) – 365
</a:t>
            </a:r>
            <a:r>
              <a:rPr lang="en-US" sz="1000" dirty="0">
                <a:solidFill>
                  <a:srgbClr val="333333"/>
                </a:solidFill>
              </a:rPr>
              <a:t>• Whitman County (WA) – 365
</a:t>
            </a:r>
            <a:r>
              <a:rPr lang="en-US" sz="1200" b="1" dirty="0">
                <a:solidFill>
                  <a:srgbClr val="4B0C4E"/>
                </a:solidFill>
              </a:rPr>
              <a:t>Top Counties by Death Rate
</a:t>
            </a:r>
            <a:r>
              <a:rPr lang="en-US" sz="1000" dirty="0">
                <a:solidFill>
                  <a:srgbClr val="333333"/>
                </a:solidFill>
              </a:rPr>
              <a:t>• Brooke County (WV) – 0.000667
</a:t>
            </a:r>
            <a:r>
              <a:rPr lang="en-US" sz="1000" dirty="0">
                <a:solidFill>
                  <a:srgbClr val="333333"/>
                </a:solidFill>
              </a:rPr>
              <a:t>• Hancock County (WV) – 0.000621
</a:t>
            </a:r>
            <a:r>
              <a:rPr lang="en-US" sz="1000" dirty="0">
                <a:solidFill>
                  <a:srgbClr val="333333"/>
                </a:solidFill>
              </a:rPr>
              <a:t>• Claiborne County (TN) – 0.000616
</a:t>
            </a:r>
            <a:r>
              <a:rPr lang="en-US" sz="1000" dirty="0">
                <a:solidFill>
                  <a:srgbClr val="333333"/>
                </a:solidFill>
              </a:rPr>
              <a:t>• Bristol City (VA) – 0.000521
</a:t>
            </a:r>
            <a:r>
              <a:rPr lang="en-US" sz="1000" dirty="0">
                <a:solidFill>
                  <a:srgbClr val="333333"/>
                </a:solidFill>
              </a:rPr>
              <a:t>• Sheridan County (MT) – 0.000516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Correlation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 scatter plot of PM2.5 exposure versus respiratory death rate reveals a weak negative relationship, indicating that higher exposure does not necessarily correspond to higher mortality.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71600" y="2194560"/>
            <a:ext cx="640080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2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County Distributions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Washington and Wisconsin counties have the highest PM2.5 exposure, whereas Appalachian states exhibit the highest death rates.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2011680"/>
            <a:ext cx="3657600" cy="2377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2011680"/>
            <a:ext cx="365760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43891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0C4E"/>
                </a:solidFill>
              </a:rPr>
              <a:t>PM2.5 Days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852160" y="43891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0C4E"/>
                </a:solidFill>
              </a:rPr>
              <a:t>Death Rate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3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Global Mortality Trends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The number of deaths attributable to ambient air pollution has gradually declined from 2015 to 2021, reflecting global improvements in air quality and health interventions.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71600" y="2286000"/>
            <a:ext cx="640080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2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Implementation &amp;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0C4E"/>
                </a:solidFill>
              </a:rPr>
              <a:t>1. Clean Data
</a:t>
            </a:r>
            <a:r>
              <a:rPr lang="en-US" sz="1000" dirty="0">
                <a:solidFill>
                  <a:srgbClr val="333333"/>
                </a:solidFill>
              </a:rPr>
              <a:t>   • Converted dates and numeric columns
   • Removed missing entries
</a:t>
            </a:r>
            <a:r>
              <a:rPr lang="en-US" sz="1200" b="1" dirty="0">
                <a:solidFill>
                  <a:srgbClr val="4B0C4E"/>
                </a:solidFill>
              </a:rPr>
              <a:t>2. Upload to HDFS
</a:t>
            </a:r>
            <a:r>
              <a:rPr lang="en-US" sz="1000" dirty="0">
                <a:solidFill>
                  <a:srgbClr val="333333"/>
                </a:solidFill>
              </a:rPr>
              <a:t>   • Used Ambari File View → /user/cw2/datasets
</a:t>
            </a:r>
            <a:r>
              <a:rPr lang="en-US" sz="1200" b="1" dirty="0">
                <a:solidFill>
                  <a:srgbClr val="4B0C4E"/>
                </a:solidFill>
              </a:rPr>
              <a:t>3. Create Hive Tables
</a:t>
            </a:r>
            <a:r>
              <a:rPr lang="en-US" sz="1000" dirty="0">
                <a:solidFill>
                  <a:srgbClr val="333333"/>
                </a:solidFill>
              </a:rPr>
              <a:t>   • Defined schemas reflecting cleaned CSV fields
   • Loaded data via LOAD DATA INPATH commands
</a:t>
            </a:r>
            <a:r>
              <a:rPr lang="en-US" sz="1200" b="1" dirty="0">
                <a:solidFill>
                  <a:srgbClr val="4B0C4E"/>
                </a:solidFill>
              </a:rPr>
              <a:t>4. Run Queries &amp; Visualise
</a:t>
            </a:r>
            <a:r>
              <a:rPr lang="en-US" sz="1000" dirty="0">
                <a:solidFill>
                  <a:srgbClr val="333333"/>
                </a:solidFill>
              </a:rPr>
              <a:t>   • Computed summary statistics and correlations in Hive
   • Created scatter, bar and line charts in Zeppelin
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Concluding Comments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6868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0C4E"/>
                </a:solidFill>
              </a:rPr>
              <a:t>Key Insights
</a:t>
            </a:r>
            <a:r>
              <a:rPr lang="en-US" sz="1000" dirty="0">
                <a:solidFill>
                  <a:srgbClr val="333333"/>
                </a:solidFill>
              </a:rPr>
              <a:t>• Weak negative correlation between PM2.5 exposure and death rate
</a:t>
            </a:r>
            <a:r>
              <a:rPr lang="en-US" sz="1000" dirty="0">
                <a:solidFill>
                  <a:srgbClr val="333333"/>
                </a:solidFill>
              </a:rPr>
              <a:t>• Exposure hotspots in Washington/Wisconsin; mortality hotspots in Appalachia
</a:t>
            </a:r>
            <a:r>
              <a:rPr lang="en-US" sz="1000" dirty="0">
                <a:solidFill>
                  <a:srgbClr val="333333"/>
                </a:solidFill>
              </a:rPr>
              <a:t>• Global deaths from ambient air pollution show a declining trend
</a:t>
            </a:r>
            <a:r>
              <a:rPr lang="en-US" sz="1400" b="1" dirty="0">
                <a:solidFill>
                  <a:srgbClr val="4B0C4E"/>
                </a:solidFill>
              </a:rPr>
              <a:t>Limitations
</a:t>
            </a:r>
            <a:r>
              <a:rPr lang="en-US" sz="1000" dirty="0">
                <a:solidFill>
                  <a:srgbClr val="333333"/>
                </a:solidFill>
              </a:rPr>
              <a:t>• Data limited to U.S. counties for one year and global aggregates
</a:t>
            </a:r>
            <a:r>
              <a:rPr lang="en-US" sz="1000" dirty="0">
                <a:solidFill>
                  <a:srgbClr val="333333"/>
                </a:solidFill>
              </a:rPr>
              <a:t>• Small sample size (&lt; 1k rows) reduces statistical power
</a:t>
            </a:r>
            <a:r>
              <a:rPr lang="en-US" sz="1000" dirty="0">
                <a:solidFill>
                  <a:srgbClr val="333333"/>
                </a:solidFill>
              </a:rPr>
              <a:t>• Correlation does not prove causation; omitted socio‑economic factors
</a:t>
            </a:r>
            <a:r>
              <a:rPr lang="en-US" sz="1400" b="1" dirty="0">
                <a:solidFill>
                  <a:srgbClr val="4B0C4E"/>
                </a:solidFill>
              </a:rPr>
              <a:t>Recommendations &amp; Future Work
</a:t>
            </a:r>
            <a:r>
              <a:rPr lang="en-US" sz="1000" dirty="0">
                <a:solidFill>
                  <a:srgbClr val="333333"/>
                </a:solidFill>
              </a:rPr>
              <a:t>• Acquire Pakistan‑specific air quality and mortality data
</a:t>
            </a:r>
            <a:r>
              <a:rPr lang="en-US" sz="1000" dirty="0">
                <a:solidFill>
                  <a:srgbClr val="333333"/>
                </a:solidFill>
              </a:rPr>
              <a:t>• Extend the timeframe and incorporate other pollutants (NO₂, SO₂, CO)
</a:t>
            </a:r>
            <a:r>
              <a:rPr lang="en-US" sz="1000" dirty="0">
                <a:solidFill>
                  <a:srgbClr val="333333"/>
                </a:solidFill>
              </a:rPr>
              <a:t>• Apply regression and causal models; build interactive dashboards
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2743200"/>
          </a:xfrm>
          <a:prstGeom prst="rtTriangle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675120" y="-457200"/>
            <a:ext cx="3840480" cy="2286000"/>
          </a:xfrm>
          <a:prstGeom prst="rtTriangle">
            <a:avLst/>
          </a:prstGeom>
          <a:solidFill>
            <a:srgbClr val="BFA03B"/>
          </a:solidFill>
          <a:ln w="12700">
            <a:solidFill>
              <a:srgbClr val="BFA03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B0C4E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686800" cy="3566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[1] Pakistan Open Data Portal. "Air Quality Index May 2019 – April 2020," 2023.
</a:t>
            </a:r>
            <a:r>
              <a:rPr lang="en-US" sz="900" dirty="0">
                <a:solidFill>
                  <a:srgbClr val="333333"/>
                </a:solidFill>
              </a:rPr>
              <a:t>[2] World Bank. "Mortality rate attributed to household and ambient air pollution (per 100,000 population)," 2024.
</a:t>
            </a:r>
            <a:r>
              <a:rPr lang="en-US" sz="900" dirty="0">
                <a:solidFill>
                  <a:srgbClr val="333333"/>
                </a:solidFill>
              </a:rPr>
              <a:t>[3] World Health Organization. Global Health Observatory Data Repository. Indicator AIR_41: Ambient air pollution attributable deaths, 2025.
</a:t>
            </a:r>
            <a:r>
              <a:rPr lang="en-US" sz="900" dirty="0">
                <a:solidFill>
                  <a:srgbClr val="333333"/>
                </a:solidFill>
              </a:rPr>
              <a:t>[4] Student Project Pipeline and Analysis Steps.
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4B0C4E"/>
                </a:solidFill>
                <a:hlinkClick r:id="rId1"/>
              </a:rPr>
              <a:t>[1]</a:t>
            </a:r>
            <a:r>
              <a:rPr lang="en-US" sz="700" dirty="0">
                <a:solidFill>
                  <a:srgbClr val="000000"/>
                </a:solidFill>
              </a:rPr>
              <a:t>   </a:t>
            </a:r>
            <a:r>
              <a:rPr lang="en-US" sz="700" u="sng" dirty="0">
                <a:solidFill>
                  <a:srgbClr val="4B0C4E"/>
                </a:solidFill>
                <a:hlinkClick r:id="rId2"/>
              </a:rPr>
              <a:t>[2]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6776</Words>
  <Application>WPS Presentation</Application>
  <PresentationFormat>On-screen Show (16:9)</PresentationFormat>
  <Paragraphs>161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mac</cp:lastModifiedBy>
  <cp:revision>2</cp:revision>
  <dcterms:created xsi:type="dcterms:W3CDTF">2025-12-10T13:48:43Z</dcterms:created>
  <dcterms:modified xsi:type="dcterms:W3CDTF">2025-12-10T13:48:43Z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1AE88EABE1EBD1B43B7A396929AAAA0A_42</vt:lpwstr>
  </property>
  <property fmtid="{D5CDD505-2E9C-101B-9397-08002B2CF9AE}" pid="3" name="KSOProductBuildVer">
    <vt:lpwstr>1033-6.10.2.8397</vt:lpwstr>
  </property>
</Properties>
</file>